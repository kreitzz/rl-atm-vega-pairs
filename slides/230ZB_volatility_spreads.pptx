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downside-put strategy emerged from empirical exploration. We subsequently froze its proposals to isolate the benefit of sizing. This is not an untouched holdout.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contextual allocation with direct policy search. Unlike the paper’s Q-learning, it has no Bellman update or discounted continuation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improvement comes from adaptive exposure and its effect on overlapping inventory and trade admission. These are common proposals, rather than identical executed portfolios. Source: main_sizing_comparison_10m.csv and cumulative_performance_10m.csv. Annualized excess Sharpe uses supplied cash-excess returns, excluding initialization.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Training improvement is expected; subsequent performance is the more relevant evidence. Walk-forward fitting is causal, but retrospective pair selection and repeated research remain. Source: sources/initial_train_walk_forward.csv.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 result is 1.003. Do not substitute the separate 1.029 management checkpoint. Fitted-Q, native one-year, portfolio combinations and older ATM neural-network comparisons belong in an appendix once their source results are supplied.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OUR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0243A"/>
                </a:solidFill>
                <a:latin typeface="Aptos"/>
              </a:defRPr>
            </a:pPr>
            <a:r>
              <a:t>From equity spreads to volatility spreads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0243A"/>
                </a:solidFill>
                <a:latin typeface="Aptos"/>
              </a:defRPr>
            </a:pPr>
            <a:r>
              <a:t>The paper trades deviations in equity prices.</a:t>
            </a:r>
          </a:p>
          <a:p>
            <a:pPr>
              <a:spcAft>
                <a:spcPts val="900"/>
              </a:spcAft>
              <a:defRPr sz="2200" b="0">
                <a:solidFill>
                  <a:srgbClr val="10243A"/>
                </a:solidFill>
                <a:latin typeface="Aptos"/>
              </a:defRPr>
            </a:pPr>
            <a:r>
              <a:t>We investigate deviations in option-implied volatility across related stocks.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3383280" cy="16459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3429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C95"/>
                </a:solidFill>
                <a:latin typeface="Aptos"/>
              </a:defRPr>
            </a:pPr>
            <a:r>
              <a:t>EQUITY SPREAD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931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0243A"/>
                </a:solidFill>
                <a:latin typeface="Aptos"/>
              </a:defRPr>
            </a:pPr>
            <a:r>
              <a:t>Price deviations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200400"/>
            <a:ext cx="3383280" cy="16459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429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C95"/>
                </a:solidFill>
                <a:latin typeface="Aptos"/>
              </a:defRPr>
            </a:pPr>
            <a:r>
              <a:t>VOLATILITY SIGNAL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931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0243A"/>
                </a:solidFill>
                <a:latin typeface="Aptos"/>
              </a:defRPr>
            </a:pPr>
            <a:r>
              <a:t>Which trade looks attractive?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200400"/>
            <a:ext cx="3383280" cy="16459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4290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C95"/>
                </a:solidFill>
                <a:latin typeface="Aptos"/>
              </a:defRPr>
            </a:pPr>
            <a:r>
              <a:t>LEARNED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93192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0243A"/>
                </a:solidFill>
                <a:latin typeface="Aptos"/>
              </a:defRPr>
            </a:pPr>
            <a:r>
              <a:t>How much should we trade?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74903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1024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749039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1024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035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10243A"/>
                </a:solidFill>
                <a:latin typeface="Aptos"/>
              </a:defRPr>
            </a:pPr>
            <a:r>
              <a:t>Separate signal discovery from the allocation decision.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OUR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0243A"/>
                </a:solidFill>
                <a:latin typeface="Aptos"/>
              </a:defRPr>
            </a:pPr>
            <a:r>
              <a:t>The downside-put signal emerged from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920240" cy="7315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105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C95"/>
                </a:solidFill>
                <a:latin typeface="Aptos"/>
              </a:defRPr>
            </a:pPr>
            <a:r>
              <a:t>01 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7373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0243A"/>
                </a:solidFill>
                <a:latin typeface="Aptos"/>
              </a:defRPr>
            </a:pPr>
            <a:r>
              <a:t>ATM implied-volatility data → actual option contracts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06040"/>
            <a:ext cx="1920240" cy="7315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7063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C95"/>
                </a:solidFill>
                <a:latin typeface="Aptos"/>
              </a:defRPr>
            </a:pPr>
            <a:r>
              <a:t>02  EXPLORE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6974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0243A"/>
                </a:solidFill>
                <a:latin typeface="Aptos"/>
              </a:defRPr>
            </a:pPr>
            <a:r>
              <a:t>ATM, downside puts, opposite wings, different maturities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566160"/>
            <a:ext cx="1920240" cy="7315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3075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C95"/>
                </a:solidFill>
                <a:latin typeface="Aptos"/>
              </a:defRPr>
            </a:pPr>
            <a:r>
              <a:t>03  RETAIN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65760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0243A"/>
                </a:solidFill>
                <a:latin typeface="Aptos"/>
              </a:defRPr>
            </a:pPr>
            <a:r>
              <a:t>Approximately 30-day, 25-delta puts: strongest retained contract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26280"/>
            <a:ext cx="1920240" cy="7315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6908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C95"/>
                </a:solidFill>
                <a:latin typeface="Aptos"/>
              </a:defRPr>
            </a:pPr>
            <a:r>
              <a:t>04  FREEZE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461772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10243A"/>
                </a:solidFill>
                <a:latin typeface="Aptos"/>
              </a:defRPr>
            </a:pPr>
            <a:r>
              <a:t>Freeze proposals to isolate the benefit of learned sizing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4535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Also investigated realized variance, historical spreads, profitability memory, and alternative data. Configuration selected after examining results.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OUR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0243A"/>
                </a:solidFill>
                <a:latin typeface="Aptos"/>
              </a:defRPr>
            </a:pPr>
            <a:r>
              <a:t>What actually generates a trade?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4114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1  Rank the pair’s IV spread over the preceding 252 sessions.</a:t>
            </a:r>
          </a:p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2  Bottom ≤20% or top &gt;80%: buy relatively cheap volatility, sell expensive volatility.</a:t>
            </a:r>
          </a:p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3  Beta 0.85–1.15; correlation ≥0.5; positive completed-history directional profitability.</a:t>
            </a:r>
          </a:p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4  Matching puts, initially vega neutral; daily stock delta hedging.</a:t>
            </a:r>
          </a:p>
        </p:txBody>
      </p:sp>
      <p:pic>
        <p:nvPicPr>
          <p:cNvPr id="6" name="Picture 5" descr="sig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645920"/>
            <a:ext cx="6858000" cy="3429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74920" y="51663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0243A"/>
                </a:solidFill>
                <a:latin typeface="Aptos"/>
              </a:defRPr>
            </a:pPr>
            <a:r>
              <a:t>AMD/NVDA example: Aug 12/13 signals → Aug 13/14 executions. Extreme ranks alone do not qualify.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4535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2019 rolling selected-contract IV, not held-cohort marks. At least 63 observations; no missing-quote imputation. Variance-premium features inform size, not entry.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OUR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0243A"/>
                </a:solidFill>
                <a:latin typeface="Aptos"/>
              </a:defRPr>
            </a:pPr>
            <a:r>
              <a:t>The learner chooses exposure, not the entry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154680" cy="251460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008C95"/>
                </a:solidFill>
                <a:latin typeface="Aptos"/>
              </a:defRPr>
            </a:pPr>
            <a:r>
              <a:t>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0604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Relative IV + rank</a:t>
            </a:r>
          </a:p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Realized vs. implied variance</a:t>
            </a:r>
          </a:p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Profitability memory</a:t>
            </a:r>
          </a:p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Pair + market conditions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783080"/>
            <a:ext cx="3154680" cy="251460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008C95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60604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50% / 75% / 100%</a:t>
            </a:r>
          </a:p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of the trade’s vega budget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783080"/>
            <a:ext cx="3154680" cy="251460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59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1">
                <a:solidFill>
                  <a:srgbClr val="008C95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59" y="2606040"/>
            <a:ext cx="2743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Sharpe of aggregated</a:t>
            </a:r>
          </a:p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historical daily P&amp;L paths</a:t>
            </a:r>
          </a:p>
          <a:p>
            <a:pPr>
              <a:spcAft>
                <a:spcPts val="900"/>
              </a:spcAft>
              <a:defRPr sz="1900" b="0">
                <a:solidFill>
                  <a:srgbClr val="10243A"/>
                </a:solidFill>
                <a:latin typeface="Aptos"/>
              </a:defRPr>
            </a:pPr>
            <a:r>
              <a:t>after training costs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1024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8803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500" b="0">
                <a:solidFill>
                  <a:srgbClr val="10243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107899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10243A"/>
                </a:solidFill>
                <a:latin typeface="Aptos"/>
              </a:defRPr>
            </a:pPr>
            <a:r>
              <a:t>Monthly refit: tree states + direct policy search</a:t>
            </a:r>
          </a:p>
          <a:p>
            <a:pPr>
              <a:spcAft>
                <a:spcPts val="900"/>
              </a:spcAft>
              <a:defRPr sz="2300" b="1">
                <a:solidFill>
                  <a:srgbClr val="10243A"/>
                </a:solidFill>
                <a:latin typeface="Aptos"/>
              </a:defRPr>
            </a:pPr>
            <a:r>
              <a:t>Use the preceding 18 months of completed outcomes.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4535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Contextual allocation with direct-Sharpe CEM search. No Bellman update or discounted continuation value; not the paper’s Q-learning.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OUR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0243A"/>
                </a:solidFill>
                <a:latin typeface="Aptos"/>
              </a:defRPr>
            </a:pPr>
            <a:r>
              <a:t>Learned sizing improves the matched historical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5" name="Picture 4" descr="shar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3291840" cy="2915630"/>
          </a:xfrm>
          <a:prstGeom prst="rect">
            <a:avLst/>
          </a:prstGeom>
        </p:spPr>
      </p:pic>
      <p:pic>
        <p:nvPicPr>
          <p:cNvPr id="6" name="Picture 5" descr="cumul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39" y="1508760"/>
            <a:ext cx="7635240" cy="31985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4800600"/>
            <a:ext cx="3520440" cy="9601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937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0243A"/>
                </a:solidFill>
                <a:latin typeface="Aptos"/>
              </a:defRPr>
            </a:pPr>
            <a:r>
              <a:t>Fixed 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3583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0243A"/>
                </a:solidFill>
                <a:latin typeface="Aptos"/>
              </a:defRPr>
            </a:pPr>
            <a:r>
              <a:t>263 entries  |  $248,315 above cash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4800600"/>
            <a:ext cx="3520440" cy="9601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4937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10243A"/>
                </a:solidFill>
                <a:latin typeface="Aptos"/>
              </a:defRPr>
            </a:pPr>
            <a:r>
              <a:t>Fixed 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53583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0243A"/>
                </a:solidFill>
                <a:latin typeface="Aptos"/>
              </a:defRPr>
            </a:pPr>
            <a:r>
              <a:t>133 entries  |  $272,338 above cash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4800600"/>
            <a:ext cx="3520440" cy="96012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4937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008C95"/>
                </a:solidFill>
                <a:latin typeface="Aptos"/>
              </a:defRPr>
            </a:pPr>
            <a:r>
              <a:t>Learned 50/75/100%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53583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 b="0">
                <a:solidFill>
                  <a:srgbClr val="10243A"/>
                </a:solidFill>
                <a:latin typeface="Aptos"/>
              </a:defRPr>
            </a:pPr>
            <a:r>
              <a:t>212 entries  |  $322,637 above cash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4535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$10m equity · Jan 2018–Aug 2025 · Same 608 proposals, contracts, directions, costs and risk limits. Actual marks, daily hedges and financing.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OUR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0243A"/>
                </a:solidFill>
                <a:latin typeface="Aptos"/>
              </a:defRPr>
            </a:pPr>
            <a:r>
              <a:t>Research progression: recency and variance-premium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10243A"/>
                </a:solidFill>
                <a:latin typeface="Aptos"/>
              </a:defRPr>
            </a:pPr>
            <a:r>
              <a:t>Five-year training window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645919"/>
            <a:ext cx="2286000" cy="68580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17373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08C95"/>
                </a:solidFill>
                <a:latin typeface="Aptos"/>
              </a:defRPr>
            </a:pPr>
            <a:r>
              <a:t>0.826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10243A"/>
                </a:solidFill>
                <a:latin typeface="Aptos"/>
              </a:defRPr>
            </a:pPr>
            <a:r>
              <a:t>18-month training window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606040"/>
            <a:ext cx="2286000" cy="68580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269748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08C95"/>
                </a:solidFill>
                <a:latin typeface="Aptos"/>
              </a:defRPr>
            </a:pPr>
            <a:r>
              <a:t>0.962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5760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10243A"/>
                </a:solidFill>
                <a:latin typeface="Aptos"/>
              </a:defRPr>
            </a:pPr>
            <a:r>
              <a:t>Add variance-premium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3566160"/>
            <a:ext cx="2286000" cy="68580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36576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08C95"/>
                </a:solidFill>
                <a:latin typeface="Aptos"/>
              </a:defRPr>
            </a:pPr>
            <a:r>
              <a:t>1.006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10243A"/>
                </a:solidFill>
                <a:latin typeface="Aptos"/>
              </a:defRPr>
            </a:pPr>
            <a:r>
              <a:t>Shorter history improved adaptation in this experiment.</a:t>
            </a:r>
          </a:p>
          <a:p>
            <a:pPr>
              <a:spcAft>
                <a:spcPts val="900"/>
              </a:spcAft>
              <a:defRPr sz="2000" b="0">
                <a:solidFill>
                  <a:srgbClr val="10243A"/>
                </a:solidFill>
                <a:latin typeface="Aptos"/>
              </a:defRPr>
            </a:pPr>
            <a:r>
              <a:t>Added EWMA variance premium, its historical z-score, and realized/implied variance ratios.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24535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Development results: original $345m funding reference; matched $10m result is 1.003. Changes more than sizing. More features and learned skips generally failed to help.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OUR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0243A"/>
                </a:solidFill>
                <a:latin typeface="Aptos"/>
              </a:defRPr>
            </a:pPr>
            <a:r>
              <a:t>Does the sizing benefit carry into walk-forward evaluation?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063240" cy="109728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C95"/>
                </a:solidFill>
                <a:latin typeface="Aptos"/>
              </a:defRPr>
            </a:pPr>
            <a:r>
              <a:t>INITIAL 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Jul 2016–Dec 2017</a:t>
            </a:r>
          </a:p>
          <a:p>
            <a:pPr>
              <a:spcAft>
                <a:spcPts val="90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74 completed examples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645920"/>
            <a:ext cx="3063240" cy="109728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C95"/>
                </a:solidFill>
                <a:latin typeface="Aptos"/>
              </a:defRPr>
            </a:pPr>
            <a:r>
              <a:t>MONTHLY REFIT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148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Rolling prior 18 months</a:t>
            </a:r>
          </a:p>
          <a:p>
            <a:pPr>
              <a:spcAft>
                <a:spcPts val="90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Completed outcomes 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645920"/>
            <a:ext cx="3063240" cy="1097280"/>
          </a:xfrm>
          <a:prstGeom prst="roundRect">
            <a:avLst/>
          </a:prstGeom>
          <a:solidFill>
            <a:srgbClr val="EF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7830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C95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2148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2018–Aug 2025</a:t>
            </a:r>
          </a:p>
          <a:p>
            <a:pPr>
              <a:spcAft>
                <a:spcPts val="900"/>
              </a:spcAft>
              <a:defRPr sz="1600" b="0">
                <a:solidFill>
                  <a:srgbClr val="10243A"/>
                </a:solidFill>
                <a:latin typeface="Aptos"/>
              </a:defRPr>
            </a:pPr>
            <a:r>
              <a:t>Shared funded ledger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46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8391A2"/>
                </a:solidFill>
                <a:latin typeface="Aptos"/>
              </a:defRPr>
            </a:pPr>
            <a:r>
              <a:t>PERIOD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8391A2"/>
                </a:solidFill>
                <a:latin typeface="Aptos"/>
              </a:defRPr>
            </a:pPr>
            <a:r>
              <a:t>FIXED FULL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 b="1">
                <a:solidFill>
                  <a:srgbClr val="008C95"/>
                </a:solidFill>
                <a:latin typeface="Aptos"/>
              </a:defRPr>
            </a:pPr>
            <a:r>
              <a:t>LEARNED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9476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0243A"/>
                </a:solidFill>
                <a:latin typeface="Aptos"/>
              </a:defRPr>
            </a:pPr>
            <a:r>
              <a:t>Initial pre-2018 training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7947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43A"/>
                </a:solidFill>
                <a:latin typeface="Aptos"/>
              </a:defRPr>
            </a:pPr>
            <a:r>
              <a:t>1.573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7947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08C95"/>
                </a:solidFill>
                <a:latin typeface="Aptos"/>
              </a:defRPr>
            </a:pPr>
            <a:r>
              <a:t>2.015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1772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10243A"/>
                </a:solidFill>
                <a:latin typeface="Aptos"/>
              </a:defRPr>
            </a:pPr>
            <a:r>
              <a:t>Subsequent walk-forward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617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10243A"/>
                </a:solidFill>
                <a:latin typeface="Aptos"/>
              </a:defRPr>
            </a:pPr>
            <a:r>
              <a:t>0.769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61772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700" b="1">
                <a:solidFill>
                  <a:srgbClr val="008C95"/>
                </a:solidFill>
                <a:latin typeface="Aptos"/>
              </a:defRPr>
            </a:pPr>
            <a:r>
              <a:t>1.003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4535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Annualized Sharpe; compare within rows. Training: aggregated paths, $0.65 commission. Evaluation: funded ledger, $0.03 commission. History previously researched.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008C95"/>
                </a:solidFill>
                <a:latin typeface="Aptos"/>
              </a:defRPr>
            </a:pPr>
            <a:r>
              <a:t>OUR EXTENSION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900" b="1">
                <a:solidFill>
                  <a:srgbClr val="10243A"/>
                </a:solidFill>
                <a:latin typeface="Aptos"/>
              </a:defRPr>
            </a:pPr>
            <a:r>
              <a:t>Adaptive sizing helps—but the evidence has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15</a:t>
            </a:r>
          </a:p>
        </p:txBody>
      </p:sp>
      <p:pic>
        <p:nvPicPr>
          <p:cNvPr id="5" name="Picture 4" descr="year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0"/>
            <a:ext cx="6858000" cy="31001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1691640"/>
            <a:ext cx="4069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10243A"/>
                </a:solidFill>
                <a:latin typeface="Aptos"/>
              </a:defRPr>
            </a:pPr>
            <a:r>
              <a:t>The retained signal earns money with fixed sizing.</a:t>
            </a:r>
          </a:p>
          <a:p>
            <a:pPr>
              <a:spcAft>
                <a:spcPts val="900"/>
              </a:spcAft>
              <a:defRPr sz="1800" b="0">
                <a:solidFill>
                  <a:srgbClr val="10243A"/>
                </a:solidFill>
                <a:latin typeface="Aptos"/>
              </a:defRPr>
            </a:pPr>
            <a:r>
              <a:t>Learned allocation reaches approximately one excess Sharpe.</a:t>
            </a:r>
          </a:p>
          <a:p>
            <a:pPr>
              <a:spcAft>
                <a:spcPts val="900"/>
              </a:spcAft>
              <a:defRPr sz="1800" b="0">
                <a:solidFill>
                  <a:srgbClr val="10243A"/>
                </a:solidFill>
                <a:latin typeface="Aptos"/>
              </a:defRPr>
            </a:pPr>
            <a:r>
              <a:t>Gains vary across regimes, including losing years.</a:t>
            </a:r>
          </a:p>
          <a:p>
            <a:pPr>
              <a:spcAft>
                <a:spcPts val="900"/>
              </a:spcAft>
              <a:defRPr sz="1800" b="0">
                <a:solidFill>
                  <a:srgbClr val="10243A"/>
                </a:solidFill>
                <a:latin typeface="Aptos"/>
              </a:defRPr>
            </a:pPr>
            <a:r>
              <a:t>Repeated research and concentrated event profits limit the conclusion.</a:t>
            </a:r>
          </a:p>
          <a:p>
            <a:pPr>
              <a:spcAft>
                <a:spcPts val="900"/>
              </a:spcAft>
              <a:defRPr sz="1800" b="0">
                <a:solidFill>
                  <a:srgbClr val="10243A"/>
                </a:solidFill>
                <a:latin typeface="Aptos"/>
              </a:defRPr>
            </a:pPr>
            <a:r>
              <a:t>Next: freeze the strategy; test new dates with prospective pair selection.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“Adaptive sizing improved the historical risk-adjusted performance</a:t>
            </a:r>
          </a:p>
          <a:p>
            <a:pPr>
              <a:spcAft>
                <a:spcPts val="900"/>
              </a:spcAft>
              <a:defRPr sz="2200" b="1">
                <a:solidFill>
                  <a:srgbClr val="008C95"/>
                </a:solidFill>
                <a:latin typeface="Aptos"/>
              </a:defRPr>
            </a:pPr>
            <a:r>
              <a:t>of the retained options strategy relative to constant exposure.”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4535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000" b="0">
                <a:solidFill>
                  <a:srgbClr val="8391A2"/>
                </a:solidFill>
                <a:latin typeface="Aptos"/>
              </a:defRPr>
            </a:pPr>
            <a:r>
              <a:t>*2025 through Aug 29; final signals June 30, followed by runoff. Bars show calendar return above cash, in percentage 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