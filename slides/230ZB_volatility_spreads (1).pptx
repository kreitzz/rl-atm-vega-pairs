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downside-put strategy emerged from empirical exploration. We subsequently froze its proposals to isolate the benefit of sizing. This is not an untouched holdout.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contextual allocation with direct policy search. Unlike the paper’s Q-learning, it has no Bellman update or discounted continuation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improvement comes from adaptive exposure and its effect on overlapping inventory and trade admission. These are common proposals, rather than identical executed portfolios. Source: main_sizing_comparison_10m.csv and cumulative_performance_10m.csv. Annualized excess Sharpe uses supplied cash-excess returns, excluding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Training improvement is expected; subsequent performance is the more relevant evidence. Walk-forward fitting is causal, but retrospective pair selection and repeated research remain. Source: sources/initial_train_walk_forward.csv.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result is 1.003. Do not substitute the separate 1.029 management checkpoint. Fitted-Q, native one-year, portfolio combinations and older ATM neural-network comparisons belong in an appendix once their source results are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supplied by the user: 30-day hold-to-expiry 1.003 vs management 1.029; six-month 0.592 vs 0.610. These are not the main matched sizing curves. No source ledger for these extensions was included in slide_chart_inputs.zip.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supplied by the user. The 0.254 / 0.273 / 0.313 rows separate fixed exposure, learned skips, and learned sizing. Statistical uncertainty is the user-provided characterization; no fresh significance calculation was performed. No numerical forecast-only versus prior-signal comparison was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supplied by the user. Hindsight optimization is exploratory and not a deployable prior-data allocation result. No new portfolio optimization or backtest was performed.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future research, not an implemented or validated portfolio RL result. Freeze signal proposals and use one shared account with identical costs, financing, and constraints across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From equity spreads to volatility spreads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0243A"/>
                </a:solidFill>
                <a:latin typeface="Aptos"/>
              </a:defRPr>
            </a:pPr>
            <a:r>
              <a:t>The paper trades deviations in equity prices.</a:t>
            </a:r>
          </a:p>
          <a:p>
            <a:pPr>
              <a:spcAft>
                <a:spcPts val="900"/>
              </a:spcAft>
              <a:defRPr sz="2200" b="0">
                <a:solidFill>
                  <a:srgbClr val="10243A"/>
                </a:solidFill>
                <a:latin typeface="Aptos"/>
              </a:defRPr>
            </a:pPr>
            <a:r>
              <a:t>We investigate deviations in option-implied volatility across related stocks.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3383280" cy="16459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EQUITY SPREAD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931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Price deviations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00400"/>
            <a:ext cx="3383280" cy="16459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VOLATILITY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31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Which trade looks attractive?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200400"/>
            <a:ext cx="3383280" cy="16459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LEARNED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31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How much should we trade?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024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024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Delta-hedged option profitability depends on realized price variation relative to the implied volatility paid or received. We test whether historical relative pricing identifies attractive long/short exposures.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The downside-put signal emerged from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920240" cy="7315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01 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7373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0243A"/>
                </a:solidFill>
                <a:latin typeface="Aptos"/>
              </a:defRPr>
            </a:pPr>
            <a:r>
              <a:t>ATM implied-volatility data → actual option contracts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920240" cy="7315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02  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6974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0243A"/>
                </a:solidFill>
                <a:latin typeface="Aptos"/>
              </a:defRPr>
            </a:pPr>
            <a:r>
              <a:t>ATM, downside puts, opposite wings, different maturities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1920240" cy="7315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30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03  RETAIN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65760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0243A"/>
                </a:solidFill>
                <a:latin typeface="Aptos"/>
              </a:defRPr>
            </a:pPr>
            <a:r>
              <a:t>Approximately 30-day, 25-delta puts: strongest retained contract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26280"/>
            <a:ext cx="1920240" cy="7315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90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04  FREEZE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61772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0243A"/>
                </a:solidFill>
                <a:latin typeface="Aptos"/>
              </a:defRPr>
            </a:pPr>
            <a:r>
              <a:t>Freeze proposals to isolate the benefit of learned sizing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Also investigated realized variance, historical spreads, profitability memory, and alternative data. Configuration selected after examining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What actually generates a trade?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1  Rank the pair’s IV spread over the preceding 252 sessions.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2  Bottom ≤20% or top &gt;80%: buy relatively cheap volatility, sell expensive volatility.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3  Beta 0.85–1.15; correlation ≥0.5; positive completed-history directional profitability.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4  Matching puts, initially vega neutral; daily stock delta hedging.</a:t>
            </a:r>
          </a:p>
        </p:txBody>
      </p:sp>
      <p:pic>
        <p:nvPicPr>
          <p:cNvPr id="6" name="Picture 5" descr="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68580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74920" y="5166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0243A"/>
                </a:solidFill>
                <a:latin typeface="Aptos"/>
              </a:defRPr>
            </a:pPr>
            <a:r>
              <a:t>AMD/NVDA example: Aug 12/13 signals → Aug 13/14 executions. Extreme ranks alone do not qualify.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2019 rolling selected-contract IV, not held-cohort marks. At least 63 observations; no missing-quote imputation. Variance-premium features inform size, not entry.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The learner chooses exposure, not the entry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154680" cy="251460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08C95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Relative IV + rank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Realized vs. implied variance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Profitability memory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Pair + market conditions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83080"/>
            <a:ext cx="3154680" cy="251460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08C95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60604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50% / 75% / 100%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of the trade’s vega budget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783080"/>
            <a:ext cx="3154680" cy="251460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59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08C95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260604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Sharpe of aggregated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historical daily P&amp;L paths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after training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1024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1024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0243A"/>
                </a:solidFill>
                <a:latin typeface="Aptos"/>
              </a:defRPr>
            </a:pPr>
            <a:r>
              <a:t>Monthly refit: tree states + direct policy search</a:t>
            </a:r>
          </a:p>
          <a:p>
            <a:pPr>
              <a:spcAft>
                <a:spcPts val="900"/>
              </a:spcAft>
              <a:defRPr sz="2300" b="1">
                <a:solidFill>
                  <a:srgbClr val="10243A"/>
                </a:solidFill>
                <a:latin typeface="Aptos"/>
              </a:defRPr>
            </a:pPr>
            <a:r>
              <a:t>Use the preceding 18 months of completed outcomes.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Contextual allocation with direct-Sharpe CEM search. No Bellman update or discounted continuation value; not the paper’s Q-learning.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Learned sizing improves the matched historical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5" name="Picture 4" descr="shar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3291840" cy="2915630"/>
          </a:xfrm>
          <a:prstGeom prst="rect">
            <a:avLst/>
          </a:prstGeom>
        </p:spPr>
      </p:pic>
      <p:pic>
        <p:nvPicPr>
          <p:cNvPr id="6" name="Picture 5" descr="cumul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508760"/>
            <a:ext cx="7635240" cy="31985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800600"/>
            <a:ext cx="3520440" cy="9601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0243A"/>
                </a:solidFill>
                <a:latin typeface="Aptos"/>
              </a:defRPr>
            </a:pPr>
            <a:r>
              <a:t>Fixed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583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0243A"/>
                </a:solidFill>
                <a:latin typeface="Aptos"/>
              </a:defRPr>
            </a:pPr>
            <a:r>
              <a:t>263 entries  |  $248,315 above cash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800600"/>
            <a:ext cx="3520440" cy="9601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0243A"/>
                </a:solidFill>
                <a:latin typeface="Aptos"/>
              </a:defRPr>
            </a:pPr>
            <a:r>
              <a:t>Fixed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3583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0243A"/>
                </a:solidFill>
                <a:latin typeface="Aptos"/>
              </a:defRPr>
            </a:pPr>
            <a:r>
              <a:t>133 entries  |  $272,338 above cash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4800600"/>
            <a:ext cx="3520440" cy="9601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Learned 50/75/100%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53583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0243A"/>
                </a:solidFill>
                <a:latin typeface="Aptos"/>
              </a:defRPr>
            </a:pPr>
            <a:r>
              <a:t>212 entries  |  $322,637 above cash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704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10243A"/>
                </a:solidFill>
                <a:latin typeface="Aptos"/>
              </a:defRPr>
            </a:pPr>
            <a:r>
              <a:t>Common proposals; sizing changes overlapping inventory and which trades pass risk limits.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$10m equity · 2018–Aug 2025 · Next-session execution; hold to expiry; $0.03 commission plus 0.1 vol point per leg; daily hedge execution at 1 bp.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Research progression: recency and variance-premium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0243A"/>
                </a:solidFill>
                <a:latin typeface="Aptos"/>
              </a:defRPr>
            </a:pPr>
            <a:r>
              <a:t>Five-year training window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645919"/>
            <a:ext cx="2286000" cy="68580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7373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08C95"/>
                </a:solidFill>
                <a:latin typeface="Aptos"/>
              </a:defRPr>
            </a:pPr>
            <a:r>
              <a:t>0.826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0243A"/>
                </a:solidFill>
                <a:latin typeface="Aptos"/>
              </a:defRPr>
            </a:pPr>
            <a:r>
              <a:t>18-month training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606040"/>
            <a:ext cx="2286000" cy="68580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697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08C95"/>
                </a:solidFill>
                <a:latin typeface="Aptos"/>
              </a:defRPr>
            </a:pPr>
            <a:r>
              <a:t>0.962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0243A"/>
                </a:solidFill>
                <a:latin typeface="Aptos"/>
              </a:defRPr>
            </a:pPr>
            <a:r>
              <a:t>Add variance-premium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566160"/>
            <a:ext cx="2286000" cy="68580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657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08C95"/>
                </a:solidFill>
                <a:latin typeface="Aptos"/>
              </a:defRPr>
            </a:pPr>
            <a:r>
              <a:t>1.006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Shorter history improved adaptation in this experiment.</a:t>
            </a:r>
          </a:p>
          <a:p>
            <a:pPr>
              <a:spcAft>
                <a:spcPts val="9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Added EWMA variance premium, its historical z-score, and realized/implied variance ratios.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Development results: original $345m funding reference; matched $10m result is 1.003. Changes more than sizing. More features and learned skips generally failed to help.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Does the sizing benefit carry into walk-forward evaluation?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063240" cy="109728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C95"/>
                </a:solidFill>
                <a:latin typeface="Aptos"/>
              </a:defRPr>
            </a:pPr>
            <a:r>
              <a:t>INITIAL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Jul 2016–Dec 2017</a:t>
            </a:r>
          </a:p>
          <a:p>
            <a:pPr>
              <a:spcAft>
                <a:spcPts val="90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74 completed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063240" cy="109728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C95"/>
                </a:solidFill>
                <a:latin typeface="Aptos"/>
              </a:defRPr>
            </a:pPr>
            <a:r>
              <a:t>MONTHLY REFIT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Rolling prior 18 months</a:t>
            </a:r>
          </a:p>
          <a:p>
            <a:pPr>
              <a:spcAft>
                <a:spcPts val="90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Completed outcomes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645920"/>
            <a:ext cx="3063240" cy="109728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C95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148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2018–Aug 2025</a:t>
            </a:r>
          </a:p>
          <a:p>
            <a:pPr>
              <a:spcAft>
                <a:spcPts val="90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Shared funded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8391A2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8391A2"/>
                </a:solidFill>
                <a:latin typeface="Aptos"/>
              </a:defRPr>
            </a:pPr>
            <a:r>
              <a:t>FIXED FULL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C95"/>
                </a:solidFill>
                <a:latin typeface="Aptos"/>
              </a:defRPr>
            </a:pPr>
            <a:r>
              <a:t>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0243A"/>
                </a:solidFill>
                <a:latin typeface="Aptos"/>
              </a:defRPr>
            </a:pPr>
            <a:r>
              <a:t>Initial pre-2018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94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43A"/>
                </a:solidFill>
                <a:latin typeface="Aptos"/>
              </a:defRPr>
            </a:pPr>
            <a:r>
              <a:t>1.573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794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08C95"/>
                </a:solidFill>
                <a:latin typeface="Aptos"/>
              </a:defRPr>
            </a:pPr>
            <a:r>
              <a:t>2.015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0243A"/>
                </a:solidFill>
                <a:latin typeface="Aptos"/>
              </a:defRPr>
            </a:pPr>
            <a:r>
              <a:t>Subsequent walk-forward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17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43A"/>
                </a:solidFill>
                <a:latin typeface="Aptos"/>
              </a:defRPr>
            </a:pPr>
            <a:r>
              <a:t>0.769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617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08C95"/>
                </a:solidFill>
                <a:latin typeface="Aptos"/>
              </a:defRPr>
            </a:pPr>
            <a:r>
              <a:t>1.003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Annualized Sharpe; compare within rows. Training: aggregated paths, $0.65 commission. Evaluation: funded ledger, $0.03 commission. History previously researched.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Adaptive sizing helps—but the evidence has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5" name="Picture 4" descr="yea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6858000" cy="3100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691640"/>
            <a:ext cx="4069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rPr sz="1700"/>
              <a:t>The retained signal earns money with fixed sizing.</a:t>
            </a:r>
          </a:p>
          <a:p>
            <a:pPr>
              <a:spcAft>
                <a:spcPts val="70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rPr sz="1700"/>
              <a:t>Learned allocation reaches approximately one excess Sharpe.</a:t>
            </a:r>
          </a:p>
          <a:p>
            <a:pPr>
              <a:spcAft>
                <a:spcPts val="70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rPr sz="1700"/>
              <a:t>Gains vary across regimes, including losing years.</a:t>
            </a:r>
          </a:p>
          <a:p>
            <a:pPr>
              <a:spcAft>
                <a:spcPts val="70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rPr sz="1700"/>
              <a:t>Repeated research and concentrated event profits limit the conclusion.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0243A"/>
                </a:solidFill>
                <a:latin typeface="Aptos"/>
              </a:defRPr>
            </a:pPr>
            <a:r>
              <a:t>Next: freeze and prospectively validate the strategy with prospective pair selection. Combine independently validated signals and learn allocations using signal strength, correlations, inventory, and capital usage.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08C95"/>
                </a:solidFill>
                <a:latin typeface="Aptos"/>
              </a:defRPr>
            </a:pPr>
            <a:r>
              <a:t>“Adaptive sizing improved the historical risk-adjusted performance</a:t>
            </a:r>
          </a:p>
          <a:p>
            <a:pPr>
              <a:spcAft>
                <a:spcPts val="900"/>
              </a:spcAft>
              <a:defRPr sz="1900" b="1">
                <a:solidFill>
                  <a:srgbClr val="008C95"/>
                </a:solidFill>
                <a:latin typeface="Aptos"/>
              </a:defRPr>
            </a:pPr>
            <a:r>
              <a:t>of the retained options strategy relative to constant exposure.”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*2025 through Aug 29; final signals June 30, followed by runoff. Bars show calendar return above cash, in percentage points.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43A"/>
                </a:solidFill>
                <a:latin typeface="Aptos"/>
              </a:defRPr>
            </a:pPr>
            <a:r>
              <a:t>Learn when to reduce or exit 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0243A"/>
                </a:solidFill>
                <a:latin typeface="Aptos"/>
              </a:defRPr>
            </a:pPr>
            <a:r>
              <a:t>Entry sizing answers how much to trade. Management adds how long to retain the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Update IV, expected realized variance, spread convergence, and remaining inventory.</a:t>
            </a:r>
          </a:p>
          <a:p>
            <a:pPr>
              <a:spcAft>
                <a:spcPts val="8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Hold, reduce both legs, or close both legs; execute next session with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391A2"/>
                </a:solidFill>
                <a:latin typeface="Aptos"/>
              </a:defRPr>
            </a:pPr>
            <a:r>
              <a:t>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33375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391A2"/>
                </a:solidFill>
                <a:latin typeface="Aptos"/>
              </a:defRPr>
            </a:pPr>
            <a:r>
              <a:t>HOLD TO EXPIRY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337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391A2"/>
                </a:solidFill>
                <a:latin typeface="Aptos"/>
              </a:defRPr>
            </a:pPr>
            <a:r>
              <a:t>LEARNED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67911"/>
            <a:ext cx="10881360" cy="539496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30-day 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0243A"/>
                </a:solidFill>
                <a:latin typeface="Aptos"/>
              </a:defRPr>
            </a:pPr>
            <a:r>
              <a:t>1.003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8C95"/>
                </a:solidFill>
                <a:latin typeface="Aptos"/>
              </a:defRPr>
            </a:pPr>
            <a:r>
              <a:t>1.029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62272"/>
            <a:ext cx="10881360" cy="539496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Six-month 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526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0243A"/>
                </a:solidFill>
                <a:latin typeface="Aptos"/>
              </a:defRPr>
            </a:pPr>
            <a:r>
              <a:t>0.592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8C95"/>
                </a:solidFill>
                <a:latin typeface="Aptos"/>
              </a:defRPr>
            </a:pPr>
            <a:r>
              <a:t>0.610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8C95"/>
                </a:solidFill>
                <a:latin typeface="Aptos"/>
              </a:defRPr>
            </a:pPr>
            <a:r>
              <a:t>Management produced modest historical gains.</a:t>
            </a:r>
          </a:p>
          <a:p>
            <a:pPr>
              <a:spcAft>
                <a:spcPts val="800"/>
              </a:spcAft>
              <a:defRPr sz="2100" b="1">
                <a:solidFill>
                  <a:srgbClr val="008C95"/>
                </a:solidFill>
                <a:latin typeface="Aptos"/>
              </a:defRPr>
            </a:pPr>
            <a:r>
              <a:t>Six-month: fitted Q-learning. 30-day: direct policy search.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63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Historical Sharpe results supplied for this extension; distinct experiments and algorithms.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43A"/>
                </a:solidFill>
                <a:latin typeface="Aptos"/>
              </a:defRPr>
            </a:pPr>
            <a:r>
              <a:t>Develop a separate one-year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Match the variance forecast to the longer contract horizon.</a:t>
            </a:r>
          </a:p>
          <a:p>
            <a:pPr>
              <a:spcAft>
                <a:spcPts val="8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Use multiple historical variance measures; compare forecast variance with option-implied variance to determine pair direction. Freeze direction, then learn participation and size.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391A2"/>
                </a:solidFill>
                <a:latin typeface="Aptos"/>
              </a:defRPr>
            </a:pPr>
            <a:r>
              <a:t>ONE-YEAR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3063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391A2"/>
                </a:solidFill>
                <a:latin typeface="Aptos"/>
              </a:defRPr>
            </a:pPr>
            <a:r>
              <a:t>SHARPE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93592"/>
            <a:ext cx="10881360" cy="539496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Forecast signal, fixed 50%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8C95"/>
                </a:solidFill>
                <a:latin typeface="Aptos"/>
              </a:defRPr>
            </a:pPr>
            <a:r>
              <a:t>0.254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87952"/>
            <a:ext cx="10881360" cy="539496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Same learned skips, fixed 50%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4251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8C95"/>
                </a:solidFill>
                <a:latin typeface="Aptos"/>
              </a:defRPr>
            </a:pPr>
            <a:r>
              <a:t>0.273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82312"/>
            <a:ext cx="10881360" cy="539496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Forecast signal, learned sizing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8C95"/>
                </a:solidFill>
                <a:latin typeface="Aptos"/>
              </a:defRPr>
            </a:pPr>
            <a:r>
              <a:t>0.313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8C95"/>
                </a:solidFill>
                <a:latin typeface="Aptos"/>
              </a:defRPr>
            </a:pPr>
            <a:r>
              <a:t>Forecasting improved the entry signal; sizing added a smaller, statistically uncertain gain.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636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Learning direction and sizing together performed poorly. Historical results supplied for this separate extension.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43A"/>
                </a:solidFill>
                <a:latin typeface="Aptos"/>
              </a:defRPr>
            </a:pPr>
            <a:r>
              <a:t>Combine independently developed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Strong individual strategies do not automatically produce a stronger portfolio.</a:t>
            </a:r>
          </a:p>
          <a:p>
            <a:pPr>
              <a:spcAft>
                <a:spcPts val="8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Diversification depends on return correlations, shared exposures, and changing regimes. Compare equal weights with allocations estimated from prior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391A2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391A2"/>
                </a:solidFill>
                <a:latin typeface="Aptos"/>
              </a:defRPr>
            </a:pPr>
            <a:r>
              <a:t>EQUAL 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3063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391A2"/>
                </a:solidFill>
                <a:latin typeface="Aptos"/>
              </a:defRPr>
            </a:pPr>
            <a:r>
              <a:t>PRIOR-DATA ALLOCATION*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93592"/>
            <a:ext cx="10881360" cy="539496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30-day + six-month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0243A"/>
                </a:solidFill>
                <a:latin typeface="Aptos"/>
              </a:defRPr>
            </a:pPr>
            <a:r>
              <a:t>1.029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8C95"/>
                </a:solidFill>
                <a:latin typeface="Aptos"/>
              </a:defRPr>
            </a:pPr>
            <a:r>
              <a:t>0.990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87952"/>
            <a:ext cx="10881360" cy="539496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30-day + six-month + one-year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251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0243A"/>
                </a:solidFill>
                <a:latin typeface="Aptos"/>
              </a:defRPr>
            </a:pPr>
            <a:r>
              <a:t>1.006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251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8C95"/>
                </a:solidFill>
                <a:latin typeface="Aptos"/>
              </a:defRPr>
            </a:pPr>
            <a:r>
              <a:t>0.865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8C95"/>
                </a:solidFill>
                <a:latin typeface="Aptos"/>
              </a:defRPr>
            </a:pPr>
            <a:r>
              <a:t>Adaptive weighting has not yet beaten simple allocation.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t>Hindsight-optimized three-strategy blend: 1.107 — exploratory upper reference.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636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*24-month trailing estimates; quarterly reallocation. Full evaluation period. Historical Sharpe results supplied for this extension.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NEXT RESEARCH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43A"/>
                </a:solidFill>
                <a:latin typeface="Aptos"/>
              </a:defRPr>
            </a:pPr>
            <a:r>
              <a:t>Next extension: RL for portfolio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0243A"/>
                </a:solidFill>
                <a:latin typeface="Aptos"/>
              </a:defRPr>
            </a:pPr>
            <a:r>
              <a:t>Keep each signal’s trade proposals fixed. Learn how to allocate across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10881360" cy="64008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8C95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28600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t>Signal strength, completed profitability, correlations, inventory, shared names, capital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90088"/>
            <a:ext cx="10881360" cy="64008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8C95"/>
                </a:solidFill>
                <a:latin typeface="Aptos"/>
              </a:defRPr>
            </a:pPr>
            <a:r>
              <a:t>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06324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t>Allocate across strategies; admit, reduce, or close positions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10881360" cy="64008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8C95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t>Portfolio risk-adjusted performance after execution costs and financing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0243A"/>
                </a:solidFill>
                <a:latin typeface="Aptos"/>
              </a:defRPr>
            </a:pPr>
            <a:r>
              <a:t>Benchmarks: equal allocation, risk-based allocation, independent trade-level sizing.</a:t>
            </a:r>
          </a:p>
          <a:p>
            <a:pPr>
              <a:spcAft>
                <a:spcPts val="800"/>
              </a:spcAft>
              <a:defRPr sz="1700" b="0">
                <a:solidFill>
                  <a:srgbClr val="10243A"/>
                </a:solidFill>
                <a:latin typeface="Aptos"/>
              </a:defRPr>
            </a:pPr>
            <a:r>
              <a:t>Validation: frozen signals; subsequent data; one shared account and identical constraints.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961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8C95"/>
                </a:solidFill>
                <a:latin typeface="Aptos"/>
              </a:defRPr>
            </a:pPr>
            <a:r>
              <a:t>“Our current evidence supports adaptive sizing within a defined volatility strategy.</a:t>
            </a:r>
          </a:p>
          <a:p>
            <a:pPr>
              <a:spcAft>
                <a:spcPts val="800"/>
              </a:spcAft>
              <a:defRPr sz="2000" b="1">
                <a:solidFill>
                  <a:srgbClr val="008C95"/>
                </a:solidFill>
                <a:latin typeface="Aptos"/>
              </a:defRPr>
            </a:pPr>
            <a:r>
              <a:t>The next challenge is learning how independently validated signals should share capital.”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